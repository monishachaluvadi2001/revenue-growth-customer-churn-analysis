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360F0-9F75-413A-9E64-0FEF9ED5BF6F}" v="6" dt="2026-01-29T02:52:5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uvadi Monisha" userId="796dfd0a8b4f87ee" providerId="LiveId" clId="{0EE7009D-042E-444E-B53A-B6438209C41B}"/>
    <pc:docChg chg="custSel modSld">
      <pc:chgData name="Chaluvadi Monisha" userId="796dfd0a8b4f87ee" providerId="LiveId" clId="{0EE7009D-042E-444E-B53A-B6438209C41B}" dt="2026-01-29T02:53:10.391" v="6" actId="1076"/>
      <pc:docMkLst>
        <pc:docMk/>
      </pc:docMkLst>
      <pc:sldChg chg="modSp mod">
        <pc:chgData name="Chaluvadi Monisha" userId="796dfd0a8b4f87ee" providerId="LiveId" clId="{0EE7009D-042E-444E-B53A-B6438209C41B}" dt="2026-01-29T02:52:48.397" v="4" actId="27636"/>
        <pc:sldMkLst>
          <pc:docMk/>
          <pc:sldMk cId="783225392" sldId="256"/>
        </pc:sldMkLst>
        <pc:spChg chg="mod">
          <ac:chgData name="Chaluvadi Monisha" userId="796dfd0a8b4f87ee" providerId="LiveId" clId="{0EE7009D-042E-444E-B53A-B6438209C41B}" dt="2026-01-29T02:52:48.397" v="4" actId="27636"/>
          <ac:spMkLst>
            <pc:docMk/>
            <pc:sldMk cId="783225392" sldId="256"/>
            <ac:spMk id="2" creationId="{00000000-0000-0000-0000-000000000000}"/>
          </ac:spMkLst>
        </pc:spChg>
        <pc:spChg chg="mod">
          <ac:chgData name="Chaluvadi Monisha" userId="796dfd0a8b4f87ee" providerId="LiveId" clId="{0EE7009D-042E-444E-B53A-B6438209C41B}" dt="2026-01-29T02:52:48.373" v="3" actId="27636"/>
          <ac:spMkLst>
            <pc:docMk/>
            <pc:sldMk cId="783225392" sldId="256"/>
            <ac:spMk id="3" creationId="{00000000-0000-0000-0000-000000000000}"/>
          </ac:spMkLst>
        </pc:spChg>
      </pc:sldChg>
      <pc:sldChg chg="modSp mod">
        <pc:chgData name="Chaluvadi Monisha" userId="796dfd0a8b4f87ee" providerId="LiveId" clId="{0EE7009D-042E-444E-B53A-B6438209C41B}" dt="2026-01-29T02:53:10.391" v="6" actId="1076"/>
        <pc:sldMkLst>
          <pc:docMk/>
          <pc:sldMk cId="862370543" sldId="257"/>
        </pc:sldMkLst>
        <pc:spChg chg="mod">
          <ac:chgData name="Chaluvadi Monisha" userId="796dfd0a8b4f87ee" providerId="LiveId" clId="{0EE7009D-042E-444E-B53A-B6438209C41B}" dt="2026-01-29T02:53:10.391" v="6" actId="1076"/>
          <ac:spMkLst>
            <pc:docMk/>
            <pc:sldMk cId="862370543" sldId="257"/>
            <ac:spMk id="5" creationId="{00000000-0000-0000-0000-000000000000}"/>
          </ac:spMkLst>
        </pc:spChg>
      </pc:sldChg>
      <pc:sldChg chg="modSp mod">
        <pc:chgData name="Chaluvadi Monisha" userId="796dfd0a8b4f87ee" providerId="LiveId" clId="{0EE7009D-042E-444E-B53A-B6438209C41B}" dt="2026-01-29T02:53:00.604" v="5" actId="1076"/>
        <pc:sldMkLst>
          <pc:docMk/>
          <pc:sldMk cId="1485621301" sldId="259"/>
        </pc:sldMkLst>
        <pc:spChg chg="mod">
          <ac:chgData name="Chaluvadi Monisha" userId="796dfd0a8b4f87ee" providerId="LiveId" clId="{0EE7009D-042E-444E-B53A-B6438209C41B}" dt="2026-01-29T02:53:00.604" v="5" actId="1076"/>
          <ac:spMkLst>
            <pc:docMk/>
            <pc:sldMk cId="1485621301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8D27-4086-DDB0-8FA7-DE89A6168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3B3BF-D646-AF15-4F1B-96EC084C6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DD68E-4EA1-FF59-5749-52497B19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5FDBB-D2FA-5C7A-2B87-5016AD86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F27DD-246C-832B-233D-6FD802F9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08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CB15-83C5-341A-128B-30B05772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273F-82EE-63B9-6555-A43265986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40BD9-E1B9-5B7A-D96F-CAAABE09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D2A52-80BB-A1C1-EB8F-3E77F3F9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3C1F1-BC7A-84D3-DF88-750952CC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02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27B3-D63C-058B-534C-C6D5BC09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899B8-7488-1B49-5B2B-B87A386C8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9AA41-2FAF-6D1B-E292-B8C64F3A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99CC-F2A0-DE55-F139-39FE6210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CFF67-8E3E-615D-40A1-604A1981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2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425E-F0E5-20F2-0B41-1E9255A3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DC60E-B02C-2C6A-218D-6BBD133C4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F814D-A00E-10CF-B508-4667F9B99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486AD-511A-CE31-9C73-81F3260A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D32E-5833-7769-C176-D6190ED0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40314-780E-4074-4046-0FB6CD07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7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FBBC-4A23-336F-983D-6F9F0B01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B84A4-A451-80B5-3210-50AD1C95D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3234-CE48-D5FB-C911-00B070365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E42C4-3156-501E-4321-0549E7BEA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BC801-7EE4-C111-4E06-2E4DB210A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4EB6A-4B5D-651F-8B58-892F79E8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4832A-9E3D-BE9B-EBC7-EDBE689BA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03F3E-6845-F7E8-2541-0031D2A1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0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BCC5-B667-9AD8-2FAC-73E0A0BB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E9EDA-1085-1030-5002-5FCB9AF0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7A064-7B4F-D912-915B-B5BDF057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5EBC3-451F-8628-F963-DBA95D24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5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06FE0-16A5-385F-7CFB-235BAB53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D20F4-8C69-7A54-AAD2-7AEDFC2E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D4EE-D3B2-8F1D-3DB4-57B2728A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98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6336-F920-7CC8-B3A7-5A9A27F4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1152-EDA2-2642-C53E-569E298B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CDF78-5392-D6E1-DC08-935BC5284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E1288-6E75-0D4F-8B2C-2FF123B3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BE3F3-B7C0-24DE-99C6-79AE299A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E6ED4-80F1-B766-586E-4B51D48F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5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70E7-C4EE-90E4-477F-549DDAFA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9FAE0-2AD6-8F19-27E0-D125095FB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19EFF-54DA-F11C-24F3-1BF3F8188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45A-1443-7943-4B41-091C5898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8DFD4-9F1E-6966-C80F-A7833E2C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39266-29F8-EA2C-5E0D-BA25F671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04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350A-DAD6-CDBD-A6DF-5D886920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3D23C-1B38-732F-605E-42D0E68B6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B695-FC1C-3615-8DFB-03CD6132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8B9A1-1898-BBD9-1F7F-39B6295F2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B6BB-5B1B-19D0-C1E8-DE53102A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3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7D147-4E2A-DC06-AFF1-7EC9EA1E3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41281-D035-D7A3-A692-955A4318F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1323C-10C2-33E9-C148-07505830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E251E-5335-7948-FA6E-3040C7C6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7E0BF-E765-C6C6-43A4-954E6591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3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83C4A-ED39-59E9-F871-52539B30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942EE-22D9-13F0-1043-0C6B2ADFA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3E5FE-105B-DE9B-C02B-2A349A251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220A8-82DD-4505-86D2-DAB50504109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D0E39-2418-643E-7A7A-62B749852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C7F7-BE82-1933-E13A-8933EF3A5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3115A-DB00-45A0-B83B-868F91732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0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340768"/>
            <a:ext cx="7772400" cy="1508603"/>
          </a:xfrm>
        </p:spPr>
        <p:txBody>
          <a:bodyPr>
            <a:normAutofit/>
          </a:bodyPr>
          <a:lstStyle/>
          <a:p>
            <a:r>
              <a:rPr lang="en-IN" dirty="0"/>
              <a:t>Revenue Growth &amp;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116560"/>
            <a:ext cx="6400800" cy="17526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                            End-to-End Analytics Project ( SQL . Python . Power BI)</a:t>
            </a:r>
          </a:p>
          <a:p>
            <a:pPr algn="just"/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algn="just"/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Business wanted to understand how revenue has evolved over time.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Concern around revenue stability and customer churn.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Analysis performed on historical transactional data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algn="just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Goal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: Understand Revenue trends, identify risk areas, and guide future decisions.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76256" y="4869160"/>
            <a:ext cx="2160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By</a:t>
            </a:r>
          </a:p>
          <a:p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Monisha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</a:rPr>
              <a:t>Chaluvadi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22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How the Analysis Was Done 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SQL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: Used to extract, clean, and aggregate transactional data to calculate revenue and customer-level metrics.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Python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: Used for exploratory analysis and validation to ensure trends and metrics were consistent.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Power BI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: Used to model data, calculate business KPIs, and build interactive dashboards for decision-making.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635896" y="476672"/>
            <a:ext cx="216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37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 Questions We Answered</a:t>
            </a:r>
          </a:p>
          <a:p>
            <a:pPr marL="0" indent="0" algn="just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n-US" sz="2500" dirty="0"/>
              <a:t>This analysis focused on four core questions:</a:t>
            </a:r>
          </a:p>
          <a:p>
            <a:pPr marL="0" indent="0" algn="just">
              <a:buNone/>
            </a:pPr>
            <a:endParaRPr lang="en-US" sz="25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How is revenue trending over time?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Is revenue growth consistent or volatile?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Which customer segments drive revenue?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How much revenue is impacted by churn?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923928" y="476672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62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23528" y="188640"/>
            <a:ext cx="842493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What We Observed (Revenue Trends):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 observations: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Revenue growth is </a:t>
            </a:r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not linear</a:t>
            </a: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Certain months show strong growth followed by slowdowns.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Recent revenue depends heavily on a limited number of periods.</a:t>
            </a:r>
          </a:p>
          <a:p>
            <a:endParaRPr lang="en-US" sz="15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this means:  </a:t>
            </a:r>
          </a:p>
          <a:p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Growth is </a:t>
            </a:r>
            <a:r>
              <a:rPr lang="en-US" sz="1500" b="1" dirty="0">
                <a:solidFill>
                  <a:schemeClr val="bg2">
                    <a:lumMod val="10000"/>
                  </a:schemeClr>
                </a:solidFill>
              </a:rPr>
              <a:t>periodic</a:t>
            </a:r>
            <a:r>
              <a:rPr lang="en-US" sz="1500" dirty="0">
                <a:solidFill>
                  <a:schemeClr val="bg2">
                    <a:lumMod val="10000"/>
                  </a:schemeClr>
                </a:solidFill>
              </a:rPr>
              <a:t>, not stable. Business is exposed to sudden downturns.</a:t>
            </a:r>
            <a:endParaRPr lang="en-IN" sz="15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581450"/>
            <a:ext cx="8856984" cy="415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0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4362" y="116632"/>
            <a:ext cx="842493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What’s Driving Revenue (Segments):</a:t>
            </a:r>
          </a:p>
          <a:p>
            <a:endParaRPr lang="en-US" dirty="0"/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 observations: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A small number of customer segments contribute most revenue.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Some segments grow faster but are less predictable.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Revenue concentration increases business risk.</a:t>
            </a:r>
          </a:p>
          <a:p>
            <a:endParaRPr lang="en-US" sz="1500" dirty="0"/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this means: </a:t>
            </a:r>
          </a:p>
          <a:p>
            <a:r>
              <a:rPr lang="en-US" sz="1500" dirty="0"/>
              <a:t>Over-reliance on specific segments. Need to protect high-value segments</a:t>
            </a:r>
            <a:endParaRPr lang="en-IN" sz="1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471123"/>
            <a:ext cx="8784976" cy="434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3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927" y="188640"/>
            <a:ext cx="878497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Churn Impact on Revenue:</a:t>
            </a:r>
          </a:p>
          <a:p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 observations: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Churned customers account for a significant share of lost revenue.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Churn occurs in clusters, not randomly.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Revenue declines often follow churn spikes.</a:t>
            </a:r>
          </a:p>
          <a:p>
            <a:endParaRPr lang="en-US" sz="1500" dirty="0"/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this means:</a:t>
            </a:r>
          </a:p>
          <a:p>
            <a:r>
              <a:rPr lang="en-US" sz="1500" dirty="0"/>
              <a:t>Churn is </a:t>
            </a:r>
            <a:r>
              <a:rPr lang="en-US" sz="1500" b="1" dirty="0"/>
              <a:t>structural</a:t>
            </a:r>
            <a:r>
              <a:rPr lang="en-US" sz="1500" dirty="0"/>
              <a:t>, not occasional. Revenue loss is preventable with early action.</a:t>
            </a:r>
            <a:endParaRPr lang="en-IN" sz="1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780928"/>
            <a:ext cx="8918399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80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04664"/>
            <a:ext cx="842493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Business Takeaways &amp; Next Actions: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Key takeaways: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Revenue growth is fragile without churn control.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Retention has higher impact than acquisition alone.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Early signals exist before revenue declines.</a:t>
            </a:r>
          </a:p>
          <a:p>
            <a:endParaRPr lang="en-US" dirty="0"/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Recommended actions: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Monitor month-over-month revenue changes closely.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Focus retention efforts on top revenue segments.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Investigate drivers behind churn-heavy periods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39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5736" y="1844824"/>
            <a:ext cx="655272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5000" dirty="0"/>
              <a:t>Thank You</a:t>
            </a:r>
          </a:p>
          <a:p>
            <a:endParaRPr lang="en-IN" dirty="0"/>
          </a:p>
          <a:p>
            <a:r>
              <a:rPr lang="en-IN" dirty="0"/>
              <a:t>Thank you for listening.</a:t>
            </a:r>
          </a:p>
          <a:p>
            <a:r>
              <a:rPr lang="en-IN" dirty="0"/>
              <a:t>I look forward to your questions.</a:t>
            </a:r>
          </a:p>
        </p:txBody>
      </p:sp>
    </p:spTree>
    <p:extLst>
      <p:ext uri="{BB962C8B-B14F-4D97-AF65-F5344CB8AC3E}">
        <p14:creationId xmlns:p14="http://schemas.microsoft.com/office/powerpoint/2010/main" val="11239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382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Revenue Growth &amp; Churn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Growth &amp; Churn Analysis</dc:title>
  <dc:creator>Chaluvadi Monisha</dc:creator>
  <cp:lastModifiedBy>Chaluvadi Monisha</cp:lastModifiedBy>
  <cp:revision>6</cp:revision>
  <dcterms:created xsi:type="dcterms:W3CDTF">2026-01-29T00:52:40Z</dcterms:created>
  <dcterms:modified xsi:type="dcterms:W3CDTF">2026-01-29T02:53:20Z</dcterms:modified>
</cp:coreProperties>
</file>